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  <p:sldId id="284" r:id="rId29"/>
    <p:sldId id="285" r:id="rId30"/>
    <p:sldId id="289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0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4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4932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7A506-AB42-463A-8B81-A73BF9FC4D2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F4607-4B3B-4247-B3FF-C22F97192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410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00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15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41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50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56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82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1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35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3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96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7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F3090-DC30-4A5E-9296-7BCA9751366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CBFE9-57CB-4AD9-A3D1-5649F827E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Генерация изображений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45170"/>
            <a:ext cx="9144000" cy="1655762"/>
          </a:xfrm>
        </p:spPr>
        <p:txBody>
          <a:bodyPr/>
          <a:lstStyle/>
          <a:p>
            <a:r>
              <a:rPr lang="ru-RU" dirty="0" smtClean="0"/>
              <a:t>Теория обработки визуальных данных, включая компьютерное зрение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77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лекции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Автоэнкодеры</a:t>
            </a:r>
            <a:r>
              <a:rPr lang="ru-RU" dirty="0" smtClean="0"/>
              <a:t> и его устройство</a:t>
            </a:r>
          </a:p>
          <a:p>
            <a:r>
              <a:rPr lang="ru-RU" dirty="0" smtClean="0"/>
              <a:t>Генерация изображений с помощью </a:t>
            </a:r>
            <a:r>
              <a:rPr lang="ru-RU" dirty="0" err="1" smtClean="0"/>
              <a:t>автоэнкодера</a:t>
            </a:r>
            <a:endParaRPr lang="ru-RU" dirty="0" smtClean="0"/>
          </a:p>
          <a:p>
            <a:r>
              <a:rPr lang="ru-RU" dirty="0" err="1"/>
              <a:t>Г</a:t>
            </a:r>
            <a:r>
              <a:rPr lang="ru-RU" dirty="0" err="1" smtClean="0"/>
              <a:t>енеративно</a:t>
            </a:r>
            <a:r>
              <a:rPr lang="ru-RU" dirty="0" smtClean="0"/>
              <a:t>-состязательная сеть (</a:t>
            </a:r>
            <a:r>
              <a:rPr lang="en-US" dirty="0" smtClean="0"/>
              <a:t>GAN) </a:t>
            </a:r>
            <a:r>
              <a:rPr lang="ru-RU" dirty="0" smtClean="0"/>
              <a:t>и ее устройство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66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Автоэнкодеры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Автоэнкодер</a:t>
            </a:r>
            <a:r>
              <a:rPr lang="ru-RU" dirty="0" smtClean="0"/>
              <a:t> </a:t>
            </a:r>
            <a:r>
              <a:rPr lang="ru-RU" dirty="0"/>
              <a:t>– это НС, которая сначала кодирует входной сигнал в некоторое скрытое состояние, размерность которого, как правило, меньше размерности входного сигнала, а затем, из скрытого состояния снова разворачивает (декодирует) данные в другое, новое </a:t>
            </a:r>
            <a:r>
              <a:rPr lang="ru-RU" dirty="0" smtClean="0"/>
              <a:t>состояние.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942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</a:t>
            </a:r>
            <a:r>
              <a:rPr lang="ru-RU" dirty="0" err="1" smtClean="0"/>
              <a:t>автоэнкодеров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522" y="2658081"/>
            <a:ext cx="613495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5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Размерность входных и выходных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Размерности входных и выходных векторов, в общем случае, могут отличаться.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можно попробовать обучить </a:t>
            </a:r>
            <a:r>
              <a:rPr lang="ru-RU" dirty="0" err="1"/>
              <a:t>автоэнкодер</a:t>
            </a:r>
            <a:r>
              <a:rPr lang="ru-RU" dirty="0"/>
              <a:t> масштабировать изображения.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другом примере сжатия данных, декодер должен как можно точнее воспроизвести входное изображение, опираясь только на вектор скрытого состояния. Сам же этот вектор будет представлять сжатое изображение.</a:t>
            </a:r>
          </a:p>
        </p:txBody>
      </p:sp>
    </p:spTree>
    <p:extLst>
      <p:ext uri="{BB962C8B-B14F-4D97-AF65-F5344CB8AC3E}">
        <p14:creationId xmlns:p14="http://schemas.microsoft.com/office/powerpoint/2010/main" val="194159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Автоэнкодеры</a:t>
            </a:r>
            <a:r>
              <a:rPr lang="ru-RU" dirty="0" smtClean="0"/>
              <a:t> для семантической сегментации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Правда, </a:t>
            </a:r>
            <a:r>
              <a:rPr lang="ru-RU" dirty="0" smtClean="0"/>
              <a:t>нейронные сети </a:t>
            </a:r>
            <a:r>
              <a:rPr lang="ru-RU" dirty="0"/>
              <a:t>в области сжатия работают хуже традиционных алгоритмов, поэтому </a:t>
            </a:r>
            <a:r>
              <a:rPr lang="ru-RU" dirty="0" err="1"/>
              <a:t>автоэнкодеры</a:t>
            </a:r>
            <a:r>
              <a:rPr lang="ru-RU" dirty="0"/>
              <a:t> нашли свое применение в других областях.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сеть U-</a:t>
            </a:r>
            <a:r>
              <a:rPr lang="ru-RU" dirty="0" err="1"/>
              <a:t>Net</a:t>
            </a:r>
            <a:r>
              <a:rPr lang="ru-RU" dirty="0"/>
              <a:t>, </a:t>
            </a:r>
            <a:r>
              <a:rPr lang="ru-RU" dirty="0" smtClean="0"/>
              <a:t>которая используется для </a:t>
            </a:r>
            <a:r>
              <a:rPr lang="ru-RU" dirty="0"/>
              <a:t>задачи семантической сегментации объектов на изображении, по сути, является </a:t>
            </a:r>
            <a:r>
              <a:rPr lang="ru-RU" dirty="0" err="1"/>
              <a:t>автоэнкодером</a:t>
            </a:r>
            <a:r>
              <a:rPr lang="ru-RU" dirty="0"/>
              <a:t>, преобразуя сначала исходное изображение в компактное представление, а затем, декодируя его, формируя результат сегментации. </a:t>
            </a:r>
          </a:p>
        </p:txBody>
      </p:sp>
    </p:spTree>
    <p:extLst>
      <p:ext uri="{BB962C8B-B14F-4D97-AF65-F5344CB8AC3E}">
        <p14:creationId xmlns:p14="http://schemas.microsoft.com/office/powerpoint/2010/main" val="186696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один пример применения </a:t>
            </a:r>
            <a:r>
              <a:rPr lang="ru-RU" dirty="0" err="1" smtClean="0"/>
              <a:t>автоэнкодера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Другой распространенный пример </a:t>
            </a:r>
            <a:r>
              <a:rPr lang="ru-RU" dirty="0" err="1"/>
              <a:t>автоэнкодера</a:t>
            </a:r>
            <a:r>
              <a:rPr lang="ru-RU" dirty="0"/>
              <a:t> – это архитектура seq2seq, состоящая из двух рекуррентных сетей: одна играет роль кодера, а вторая – декодера.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частности так можно реализовать простейший переводчик с одного языка на другой.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целом, </a:t>
            </a:r>
            <a:r>
              <a:rPr lang="ru-RU" dirty="0" err="1"/>
              <a:t>автоэнкодеры</a:t>
            </a:r>
            <a:r>
              <a:rPr lang="ru-RU" dirty="0"/>
              <a:t> охватывают большой пласт различных задач, где требуется сначала закодировать входной сигнал, а затем, выполнить его декодирование в требуемом формате.</a:t>
            </a:r>
          </a:p>
        </p:txBody>
      </p:sp>
    </p:spTree>
    <p:extLst>
      <p:ext uri="{BB962C8B-B14F-4D97-AF65-F5344CB8AC3E}">
        <p14:creationId xmlns:p14="http://schemas.microsoft.com/office/powerpoint/2010/main" val="215985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 </a:t>
            </a:r>
            <a:r>
              <a:rPr lang="ru-RU" dirty="0" err="1" smtClean="0"/>
              <a:t>автоэнкодеров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В качестве примера </a:t>
                </a:r>
                <a:r>
                  <a:rPr lang="ru-RU" dirty="0" smtClean="0"/>
                  <a:t>рассмотрим </a:t>
                </a:r>
                <a:r>
                  <a:rPr lang="ru-RU" dirty="0" smtClean="0"/>
                  <a:t>простейшую модель с линейной функцией активации следующего вида: 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В этой схеме кодер выполняет очень простую операцию</a:t>
                </a:r>
                <a:r>
                  <a:rPr lang="ru-RU" dirty="0" smtClean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r>
                  <a:rPr lang="ru-RU" dirty="0" smtClean="0"/>
                  <a:t>А декодер разворачивает значение</a:t>
                </a:r>
                <a:r>
                  <a:rPr lang="en-US" dirty="0" smtClean="0"/>
                  <a:t> h1</a:t>
                </a:r>
                <a:r>
                  <a:rPr lang="ru-RU" dirty="0" smtClean="0"/>
                  <a:t> обратно в двумерный вектор: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606" y="2719754"/>
            <a:ext cx="2820787" cy="107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2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 </a:t>
            </a:r>
            <a:r>
              <a:rPr lang="ru-RU" dirty="0" err="1" smtClean="0"/>
              <a:t>автоэнкодеров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Предположим, что значение </a:t>
                </a:r>
                <a:r>
                  <a:rPr lang="en-US" dirty="0" smtClean="0"/>
                  <a:t>h1</a:t>
                </a:r>
                <a:r>
                  <a:rPr lang="ru-RU" dirty="0" smtClean="0"/>
                  <a:t> - это просто сумма входов: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ru-RU" dirty="0"/>
                  <a:t>Затем, декодер пытается восстановить снова эти два значения и делает это, допустим, следующим образом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0,5∗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=0,5∗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 smtClean="0"/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9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 </a:t>
            </a:r>
            <a:r>
              <a:rPr lang="ru-RU" dirty="0" err="1" smtClean="0"/>
              <a:t>автоэнкодеров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результате, получаем модель представления входных данных в скрытом состоянии</a:t>
            </a:r>
            <a:r>
              <a:rPr lang="en-US" dirty="0" smtClean="0"/>
              <a:t> h1</a:t>
            </a:r>
            <a:r>
              <a:rPr lang="ru-RU" dirty="0" smtClean="0"/>
              <a:t> в виде прямой линии, наклоненной под 45 градусов к осям системы координат: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05" y="3591238"/>
            <a:ext cx="672558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5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Пока входные данные соответствуют этой модели, т.е. лежат на этой линии, декодер их точно восстанавливает. </a:t>
            </a:r>
            <a:endParaRPr lang="en-US" dirty="0" smtClean="0"/>
          </a:p>
          <a:p>
            <a:r>
              <a:rPr lang="ru-RU" dirty="0" smtClean="0"/>
              <a:t>Как </a:t>
            </a:r>
            <a:r>
              <a:rPr lang="ru-RU" dirty="0"/>
              <a:t>только их положение меняется, например, 3 и 1, то кодер дает сумму 4 и декодер интерпретирует это значение как 2 и 2. </a:t>
            </a:r>
            <a:endParaRPr lang="en-US" dirty="0" smtClean="0"/>
          </a:p>
          <a:p>
            <a:r>
              <a:rPr lang="ru-RU" dirty="0" smtClean="0"/>
              <a:t>Вот </a:t>
            </a:r>
            <a:r>
              <a:rPr lang="ru-RU" dirty="0"/>
              <a:t>этот момент здесь ключевой: вектор скрытого состояния описывает некую модель представления данных. И чем точнее эта модель описывает входные значения, тем лучше декодер сможет их восстанавливать.</a:t>
            </a:r>
          </a:p>
        </p:txBody>
      </p:sp>
    </p:spTree>
    <p:extLst>
      <p:ext uri="{BB962C8B-B14F-4D97-AF65-F5344CB8AC3E}">
        <p14:creationId xmlns:p14="http://schemas.microsoft.com/office/powerpoint/2010/main" val="3062264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Конечно, </a:t>
            </a:r>
            <a:r>
              <a:rPr lang="ru-RU" dirty="0" smtClean="0"/>
              <a:t>нейронная сеть </a:t>
            </a:r>
            <a:r>
              <a:rPr lang="ru-RU" dirty="0"/>
              <a:t>с линейной функцией активации может формировать модель только в виде линии (одномерный случай) или гиперплоскости (многомерный случай). </a:t>
            </a:r>
            <a:endParaRPr lang="ru-RU" dirty="0" smtClean="0"/>
          </a:p>
          <a:p>
            <a:r>
              <a:rPr lang="ru-RU" dirty="0" smtClean="0"/>
              <a:t>Но</a:t>
            </a:r>
            <a:r>
              <a:rPr lang="ru-RU" dirty="0"/>
              <a:t>, используя нелинейные активационные функции (</a:t>
            </a:r>
            <a:r>
              <a:rPr lang="ru-RU" dirty="0" err="1"/>
              <a:t>сигмоида</a:t>
            </a:r>
            <a:r>
              <a:rPr lang="ru-RU" dirty="0"/>
              <a:t>, ReLU и т.п.) можно формировать практически любую модель. И эта модель создается в процессе обучения </a:t>
            </a:r>
            <a:r>
              <a:rPr lang="ru-RU" dirty="0" err="1"/>
              <a:t>автоэнкодера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446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простого </a:t>
            </a:r>
            <a:r>
              <a:rPr lang="ru-RU" dirty="0" err="1" smtClean="0"/>
              <a:t>автоэнкодера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232" y="1846561"/>
            <a:ext cx="6525536" cy="27912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200" y="4637776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Yandex Sans Display Light"/>
              </a:rPr>
              <a:t>На выходе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Yandex Sans Display Light"/>
              </a:rPr>
              <a:t>автоэнкодер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Yandex Sans Display Light"/>
              </a:rPr>
              <a:t> будет формировать сигнал размерностью 28*28=784 элемента со значениями в диапазоне [0; 1]. Входной сигнал так же представлен в диапазоне чисел [0; 1]. Размер вектора скрытого состояния равен 28. То есть, весь входной сигнал в 784 элемента будет кодироваться в вектор 28 элементов. Затем, декодер должен будет по этому вектору восстановить исходный сигнал.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664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Вариационные </a:t>
            </a:r>
            <a:r>
              <a:rPr lang="ru-RU" b="1" dirty="0" err="1"/>
              <a:t>автоэнкодеры</a:t>
            </a:r>
            <a:r>
              <a:rPr lang="ru-RU" b="1" dirty="0"/>
              <a:t> (</a:t>
            </a:r>
            <a:r>
              <a:rPr lang="en-US" b="1" dirty="0"/>
              <a:t>VAE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Вариационный </a:t>
            </a:r>
            <a:r>
              <a:rPr lang="ru-RU" b="1" dirty="0" err="1"/>
              <a:t>автоэнкодер</a:t>
            </a:r>
            <a:r>
              <a:rPr lang="ru-RU" b="1" dirty="0"/>
              <a:t> (VAE)</a:t>
            </a:r>
            <a:r>
              <a:rPr lang="ru-RU" dirty="0"/>
              <a:t> — это генеративная модель, которая обучается кодировать входные данные не в точку, а в </a:t>
            </a:r>
            <a:r>
              <a:rPr lang="ru-RU" b="1" dirty="0"/>
              <a:t>вероятностное распределение</a:t>
            </a:r>
            <a:r>
              <a:rPr lang="ru-RU" dirty="0"/>
              <a:t> в латентном пространстве, из которого затем </a:t>
            </a:r>
            <a:r>
              <a:rPr lang="ru-RU" dirty="0" err="1"/>
              <a:t>сэмплируется</a:t>
            </a:r>
            <a:r>
              <a:rPr lang="ru-RU" dirty="0"/>
              <a:t> скрытый вектор для восстановления исходных данных, что позволяет генерировать новые осмысленные образцы путём </a:t>
            </a:r>
            <a:r>
              <a:rPr lang="ru-RU" dirty="0" err="1"/>
              <a:t>сэмплирования</a:t>
            </a:r>
            <a:r>
              <a:rPr lang="ru-RU" dirty="0"/>
              <a:t> из этого распределения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852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Формирование области скрытого пространства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Они пытаются сформировать область точек скрытого пространства в соответствии с заданным законом распределения. Часто выбирают нормальное (</a:t>
            </a:r>
            <a:r>
              <a:rPr lang="ru-RU" dirty="0" err="1"/>
              <a:t>гауссовское</a:t>
            </a:r>
            <a:r>
              <a:rPr lang="ru-RU" dirty="0"/>
              <a:t>) распределение, так как оно наиболее просто с вычислительной точки зрения, имеет понятную, приемлемую форму и полностью определяется двумя параметрами</a:t>
            </a:r>
            <a:r>
              <a:rPr lang="ru-RU" dirty="0" smtClean="0"/>
              <a:t>: </a:t>
            </a:r>
            <a:r>
              <a:rPr lang="ru-RU" dirty="0"/>
              <a:t>математическое ожидание, дисперсия</a:t>
            </a:r>
          </a:p>
        </p:txBody>
      </p:sp>
    </p:spTree>
    <p:extLst>
      <p:ext uri="{BB962C8B-B14F-4D97-AF65-F5344CB8AC3E}">
        <p14:creationId xmlns:p14="http://schemas.microsoft.com/office/powerpoint/2010/main" val="18391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в двухмерном пространстве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Например, в случае двумерного вектора скрытого пространства </a:t>
            </a:r>
            <a:r>
              <a:rPr lang="en-US" dirty="0" smtClean="0"/>
              <a:t>h=[h1,h2]^T</a:t>
            </a:r>
            <a:r>
              <a:rPr lang="ru-RU" dirty="0" smtClean="0"/>
              <a:t>, </a:t>
            </a:r>
            <a:r>
              <a:rPr lang="ru-RU" dirty="0"/>
              <a:t>будем требовать от кодера формирования распределения точек на плоскости в соответствии с двумерной нормальной ПРВ: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3585801"/>
            <a:ext cx="8869013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преимущество VAE перед обычным </a:t>
            </a:r>
            <a:r>
              <a:rPr lang="ru-RU" dirty="0" err="1"/>
              <a:t>автоэнкодером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Любая точка, взятая в пределах полученного распределения, будет давать на выходе декодера осмысленные и понятные изображения — мы точно знаем, как выбирать точки в скрытом пространстве для генерации новых полноценных изображений</a:t>
            </a:r>
            <a:r>
              <a:rPr lang="ru-RU" dirty="0" smtClean="0"/>
              <a:t>.</a:t>
            </a:r>
          </a:p>
          <a:p>
            <a:r>
              <a:rPr lang="ru-RU" dirty="0"/>
              <a:t>Кроме того, этот процесс можно интерпретировать как преобразование входного пространства большой размерности в компактное скрытое пространство признаков меньшей размерности, что существенно упрощает дальнейший анализ исходных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385334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</a:t>
            </a:r>
            <a:r>
              <a:rPr lang="ru-RU" dirty="0" smtClean="0"/>
              <a:t>получим </a:t>
            </a:r>
            <a:r>
              <a:rPr lang="ru-RU" dirty="0"/>
              <a:t>следующее распределение векторов h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196" y="2220202"/>
            <a:ext cx="3839111" cy="290553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200" y="5253633"/>
            <a:ext cx="10515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Yandex Sans Display Light"/>
              </a:rPr>
              <a:t>Уже лучше, однако, этот ход не гарантирует требуемое нам распределение. Поэтому далее мы сформулируем критерий и </a:t>
            </a:r>
            <a:r>
              <a:rPr lang="ru-RU" dirty="0" smtClean="0">
                <a:solidFill>
                  <a:srgbClr val="000000"/>
                </a:solidFill>
                <a:latin typeface="Yandex Sans Display Light"/>
              </a:rPr>
              <a:t>рассмотрим новую </a:t>
            </a:r>
            <a:r>
              <a:rPr lang="ru-RU" dirty="0">
                <a:solidFill>
                  <a:srgbClr val="000000"/>
                </a:solidFill>
                <a:latin typeface="Yandex Sans Display Light"/>
              </a:rPr>
              <a:t>архитектуру </a:t>
            </a:r>
            <a:r>
              <a:rPr lang="ru-RU" dirty="0" err="1">
                <a:solidFill>
                  <a:srgbClr val="000000"/>
                </a:solidFill>
                <a:latin typeface="Yandex Sans Display Light"/>
              </a:rPr>
              <a:t>автоэнкодера</a:t>
            </a:r>
            <a:r>
              <a:rPr lang="ru-RU" dirty="0">
                <a:solidFill>
                  <a:srgbClr val="000000"/>
                </a:solidFill>
                <a:latin typeface="Yandex Sans Display Light"/>
              </a:rPr>
              <a:t>, который будет давать нужное </a:t>
            </a:r>
            <a:r>
              <a:rPr lang="ru-RU" dirty="0" smtClean="0">
                <a:solidFill>
                  <a:srgbClr val="000000"/>
                </a:solidFill>
                <a:latin typeface="Yandex Sans Display Light"/>
              </a:rPr>
              <a:t>распределение </a:t>
            </a:r>
            <a:r>
              <a:rPr lang="ru-RU" dirty="0">
                <a:solidFill>
                  <a:srgbClr val="000000"/>
                </a:solidFill>
                <a:latin typeface="Yandex Sans Display Light"/>
              </a:rPr>
              <a:t>векторов скрытого состояния.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071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Дивергенция </a:t>
            </a:r>
            <a:r>
              <a:rPr lang="ru-RU" dirty="0" err="1"/>
              <a:t>Кульбака-Лейблера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Задача алгоритма обучения VAE — не только точно воспроизвести входной сигнал, но и распределить точки скрытого пространства в соответствии с заданным законом распределения. Нам нужен критерий, который оценивает степень расхождения между текущим распределением </a:t>
                </a:r>
                <a:r>
                  <a:rPr lang="ru-RU" dirty="0"/>
                  <a:t>q(z) и желаемым </a:t>
                </a:r>
                <a:r>
                  <a:rPr lang="ru-RU" dirty="0" smtClean="0"/>
                  <a:t>p(z</a:t>
                </a:r>
                <a:r>
                  <a:rPr lang="ru-RU" dirty="0"/>
                  <a:t>). Таким критерием является </a:t>
                </a:r>
                <a:r>
                  <a:rPr lang="ru-RU" b="1" dirty="0"/>
                  <a:t>дивергенция </a:t>
                </a:r>
                <a:r>
                  <a:rPr lang="ru-RU" b="1" dirty="0" err="1"/>
                  <a:t>Кульбака-Лейблера</a:t>
                </a:r>
                <a:r>
                  <a:rPr lang="ru-RU" dirty="0" smtClean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𝑑𝑧</m:t>
                            </m:r>
                          </m:e>
                        </m:func>
                      </m:e>
                    </m:nary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623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дивергенция </a:t>
            </a:r>
            <a:r>
              <a:rPr lang="ru-RU" dirty="0" err="1"/>
              <a:t>Кульбака-Лейблера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После обучения обычного </a:t>
            </a:r>
            <a:r>
              <a:rPr lang="ru-RU" dirty="0" err="1"/>
              <a:t>автоэнкодера</a:t>
            </a:r>
            <a:r>
              <a:rPr lang="ru-RU" dirty="0"/>
              <a:t> точки скрытого пространства разбросаны хаотично — между кластерами цифр есть пустые зоны, и если взять оттуда точку, декодер выдаст бессмыслицу. </a:t>
            </a:r>
            <a:endParaRPr lang="en-US" dirty="0" smtClean="0"/>
          </a:p>
          <a:p>
            <a:r>
              <a:rPr lang="ru-RU" dirty="0" smtClean="0"/>
              <a:t>Нам </a:t>
            </a:r>
            <a:r>
              <a:rPr lang="ru-RU" dirty="0"/>
              <a:t>нужно </a:t>
            </a:r>
            <a:r>
              <a:rPr lang="ru-RU" i="1" dirty="0"/>
              <a:t>принудить</a:t>
            </a:r>
            <a:r>
              <a:rPr lang="ru-RU" dirty="0"/>
              <a:t> кодер укладывать все точки в одно компактное, предсказуемое распределение. В качестве такого распределения выбирают стандартное нормальное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p(z</a:t>
            </a:r>
            <a:r>
              <a:rPr lang="en-US" dirty="0"/>
              <a:t>)=N(0,I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ru-RU" dirty="0"/>
              <a:t>Тогда для генерации нового изображения достаточно просто </a:t>
            </a:r>
            <a:r>
              <a:rPr lang="ru-RU" dirty="0" err="1"/>
              <a:t>сэмплировать</a:t>
            </a:r>
            <a:r>
              <a:rPr lang="ru-RU" dirty="0"/>
              <a:t> </a:t>
            </a:r>
            <a:r>
              <a:rPr lang="ru-RU" dirty="0" smtClean="0"/>
              <a:t>z</a:t>
            </a:r>
            <a:r>
              <a:rPr lang="en-US" dirty="0" smtClean="0"/>
              <a:t> </a:t>
            </a:r>
            <a:r>
              <a:rPr lang="ru-RU" dirty="0" smtClean="0"/>
              <a:t>∼</a:t>
            </a:r>
            <a:r>
              <a:rPr lang="en-US" dirty="0" smtClean="0"/>
              <a:t> </a:t>
            </a:r>
            <a:r>
              <a:rPr lang="ru-RU" dirty="0" smtClean="0"/>
              <a:t>N(0,I</a:t>
            </a:r>
            <a:r>
              <a:rPr lang="ru-RU" dirty="0"/>
              <a:t>) и подать на декодер.</a:t>
            </a:r>
          </a:p>
        </p:txBody>
      </p:sp>
    </p:spTree>
    <p:extLst>
      <p:ext uri="{BB962C8B-B14F-4D97-AF65-F5344CB8AC3E}">
        <p14:creationId xmlns:p14="http://schemas.microsoft.com/office/powerpoint/2010/main" val="1777034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измерить расхождение двух распределений?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Нужен критерий, который показывает насколько текущее распределение кодера q(z</a:t>
                </a:r>
                <a:r>
                  <a:rPr lang="ru-RU" dirty="0"/>
                  <a:t>) отличается от желаемого </a:t>
                </a:r>
                <a:r>
                  <a:rPr lang="ru-RU" dirty="0" smtClean="0"/>
                  <a:t>p(z</a:t>
                </a:r>
                <a:r>
                  <a:rPr lang="ru-RU" dirty="0"/>
                  <a:t>). Именно для этого используют </a:t>
                </a:r>
                <a:r>
                  <a:rPr lang="ru-RU" b="1" dirty="0"/>
                  <a:t>дивергенцию </a:t>
                </a:r>
                <a:r>
                  <a:rPr lang="ru-RU" b="1" dirty="0" err="1"/>
                  <a:t>Кульбака-Лейблера</a:t>
                </a:r>
                <a:r>
                  <a:rPr lang="ru-RU" dirty="0"/>
                  <a:t> — это мера «расстояния» между двумя распределениями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r>
                  <a:rPr lang="ru-RU" dirty="0"/>
                  <a:t>Чем меньше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</m:oMath>
                </a14:m>
                <a:r>
                  <a:rPr lang="en-US" dirty="0" smtClean="0"/>
                  <a:t>​ </a:t>
                </a:r>
                <a:r>
                  <a:rPr lang="en-US" dirty="0"/>
                  <a:t>— </a:t>
                </a:r>
                <a:r>
                  <a:rPr lang="ru-RU" dirty="0"/>
                  <a:t>тем ближе </a:t>
                </a:r>
                <a:r>
                  <a:rPr lang="en-US" dirty="0" smtClean="0"/>
                  <a:t>q(z</a:t>
                </a:r>
                <a:r>
                  <a:rPr lang="en-US" dirty="0"/>
                  <a:t>) </a:t>
                </a:r>
                <a:r>
                  <a:rPr lang="ru-RU" dirty="0"/>
                  <a:t>к </a:t>
                </a:r>
                <a:r>
                  <a:rPr lang="en-US" dirty="0" smtClean="0"/>
                  <a:t>p(z</a:t>
                </a:r>
                <a:r>
                  <a:rPr lang="en-US" dirty="0"/>
                  <a:t>).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</m:oMath>
                </a14:m>
                <a:r>
                  <a:rPr lang="en-US" dirty="0"/>
                  <a:t> = 0 </a:t>
                </a:r>
                <a:r>
                  <a:rPr lang="ru-RU" dirty="0" smtClean="0"/>
                  <a:t>распределения </a:t>
                </a:r>
                <a:r>
                  <a:rPr lang="ru-RU" dirty="0"/>
                  <a:t>совпадают.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855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кодер описывает своё распределение?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ru-RU" dirty="0" smtClean="0"/>
                  <a:t>Кодер не выдаёт точку z </a:t>
                </a:r>
                <a:r>
                  <a:rPr lang="ru-RU" dirty="0"/>
                  <a:t>напрямую. Вместо этого он выдаёт два вектора — </a:t>
                </a:r>
                <a:r>
                  <a:rPr lang="ru-RU" b="1" dirty="0"/>
                  <a:t>математическое ожидание</a:t>
                </a:r>
                <a:r>
                  <a:rPr lang="ru-RU" dirty="0"/>
                  <a:t> </a:t>
                </a:r>
                <a:r>
                  <a:rPr lang="ru-RU" dirty="0" smtClean="0"/>
                  <a:t>μ </a:t>
                </a:r>
                <a:r>
                  <a:rPr lang="ru-RU" dirty="0"/>
                  <a:t>и </a:t>
                </a:r>
                <a:r>
                  <a:rPr lang="ru-RU" b="1" dirty="0"/>
                  <a:t>дисперсию</a:t>
                </a:r>
                <a:r>
                  <a:rPr lang="ru-RU" dirty="0"/>
                  <a:t> </a:t>
                </a:r>
                <a:r>
                  <a:rPr lang="ru-RU" dirty="0" smtClean="0"/>
                  <a:t>σ</a:t>
                </a:r>
                <a:r>
                  <a:rPr lang="en-US" dirty="0" smtClean="0"/>
                  <a:t>^</a:t>
                </a:r>
                <a:r>
                  <a:rPr lang="ru-RU" dirty="0" smtClean="0"/>
                  <a:t>2</a:t>
                </a:r>
                <a:r>
                  <a:rPr lang="ru-RU" dirty="0"/>
                  <a:t>, которые описывают </a:t>
                </a:r>
                <a:r>
                  <a:rPr lang="ru-RU" dirty="0" err="1"/>
                  <a:t>гауссовское</a:t>
                </a:r>
                <a:r>
                  <a:rPr lang="ru-RU" dirty="0"/>
                  <a:t> распределение для каждого входного изображения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ru-RU" dirty="0"/>
                  <a:t>Затем из этого распределения </a:t>
                </a:r>
                <a:r>
                  <a:rPr lang="ru-RU" dirty="0" err="1"/>
                  <a:t>сэмплируется</a:t>
                </a:r>
                <a:r>
                  <a:rPr lang="ru-RU" dirty="0"/>
                  <a:t> вектор </a:t>
                </a:r>
                <a:r>
                  <a:rPr lang="ru-RU" dirty="0" smtClean="0"/>
                  <a:t>z</a:t>
                </a:r>
                <a:r>
                  <a:rPr lang="ru-RU" dirty="0"/>
                  <a:t>. Но </a:t>
                </a:r>
                <a:r>
                  <a:rPr lang="ru-RU" dirty="0" err="1"/>
                  <a:t>сэмплирование</a:t>
                </a:r>
                <a:r>
                  <a:rPr lang="ru-RU" dirty="0"/>
                  <a:t> не дифференцируемо — градиент через него не пройдёт. Решение — </a:t>
                </a:r>
                <a:r>
                  <a:rPr lang="ru-RU" b="1" dirty="0"/>
                  <a:t>трюк </a:t>
                </a:r>
                <a:r>
                  <a:rPr lang="ru-RU" b="1" dirty="0" err="1"/>
                  <a:t>репараметризации</a:t>
                </a:r>
                <a:r>
                  <a:rPr lang="ru-RU" dirty="0"/>
                  <a:t>: случайность выносится в отдельную </a:t>
                </a:r>
                <a:r>
                  <a:rPr lang="ru-RU" dirty="0" smtClean="0"/>
                  <a:t>переменную </a:t>
                </a:r>
                <a:r>
                  <a:rPr lang="ru-RU" dirty="0"/>
                  <a:t>ε, не зависящую от параметров сети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Теперь градиент спокойно проходит через </a:t>
                </a:r>
                <a:r>
                  <a:rPr lang="ru-RU" dirty="0" smtClean="0"/>
                  <a:t>μ </a:t>
                </a:r>
                <a:r>
                  <a:rPr lang="ru-RU" dirty="0"/>
                  <a:t>и </a:t>
                </a:r>
                <a:r>
                  <a:rPr lang="ru-RU" dirty="0" smtClean="0"/>
                  <a:t>σ</a:t>
                </a:r>
                <a:r>
                  <a:rPr lang="ru-RU" dirty="0"/>
                  <a:t>, а </a:t>
                </a:r>
                <a:r>
                  <a:rPr lang="ru-RU" dirty="0" smtClean="0"/>
                  <a:t>ε </a:t>
                </a:r>
                <a:r>
                  <a:rPr lang="ru-RU" dirty="0"/>
                  <a:t>— просто шум.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870" b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761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Итоговая формула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 smtClean="0"/>
                  <a:t>Поскольку оба распределения </a:t>
                </a:r>
                <a:r>
                  <a:rPr lang="ru-RU" dirty="0" err="1"/>
                  <a:t>гауссовские</a:t>
                </a:r>
                <a:r>
                  <a:rPr lang="ru-RU" dirty="0"/>
                  <a:t>, дивергенция </a:t>
                </a:r>
                <a:r>
                  <a:rPr lang="ru-RU" dirty="0" err="1"/>
                  <a:t>Кульбака-Лейблера</a:t>
                </a:r>
                <a:r>
                  <a:rPr lang="ru-RU" dirty="0"/>
                  <a:t> вычисляется аналитически и принимает простой вид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:r>
                  <a:rPr lang="el-GR" dirty="0"/>
                  <a:t>μ</a:t>
                </a:r>
                <a:r>
                  <a:rPr lang="en-US" dirty="0"/>
                  <a:t>i</a:t>
                </a:r>
                <a:r>
                  <a:rPr lang="en-US" dirty="0" smtClean="0"/>
                  <a:t>≠0 </a:t>
                </a:r>
                <a:r>
                  <a:rPr lang="en-US" dirty="0"/>
                  <a:t>— </a:t>
                </a:r>
                <a:r>
                  <a:rPr lang="ru-RU" dirty="0"/>
                  <a:t>штраф растёт через </a:t>
                </a:r>
                <a:r>
                  <a:rPr lang="el-GR" dirty="0" smtClean="0"/>
                  <a:t>μ</a:t>
                </a:r>
                <a:r>
                  <a:rPr lang="en-US" dirty="0"/>
                  <a:t>i2​, </a:t>
                </a:r>
                <a:r>
                  <a:rPr lang="ru-RU" dirty="0"/>
                  <a:t>распределение смещено от </a:t>
                </a:r>
                <a:r>
                  <a:rPr lang="ru-RU" dirty="0" smtClean="0"/>
                  <a:t>нуля</a:t>
                </a:r>
                <a:r>
                  <a:rPr lang="en-US" dirty="0" smtClean="0"/>
                  <a:t>;</a:t>
                </a:r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:r>
                  <a:rPr lang="el-GR" dirty="0"/>
                  <a:t>σ</a:t>
                </a:r>
                <a:r>
                  <a:rPr lang="en-US" dirty="0" smtClean="0"/>
                  <a:t>i^2≠ 1 </a:t>
                </a:r>
                <a:r>
                  <a:rPr lang="en-US" dirty="0"/>
                  <a:t>— </a:t>
                </a:r>
                <a:r>
                  <a:rPr lang="ru-RU" dirty="0"/>
                  <a:t>штраф растёт через </a:t>
                </a:r>
                <a:r>
                  <a:rPr lang="el-GR" dirty="0"/>
                  <a:t>σ</a:t>
                </a:r>
                <a:r>
                  <a:rPr lang="en-US" dirty="0" smtClean="0"/>
                  <a:t>i^2 − log⁡ </a:t>
                </a:r>
                <a:r>
                  <a:rPr lang="el-GR" dirty="0" smtClean="0"/>
                  <a:t>σ</a:t>
                </a:r>
                <a:r>
                  <a:rPr lang="en-US" dirty="0" smtClean="0"/>
                  <a:t>i^2 </a:t>
                </a:r>
                <a:r>
                  <a:rPr lang="ru-RU" dirty="0" smtClean="0"/>
                  <a:t>дисперсия </a:t>
                </a:r>
                <a:r>
                  <a:rPr lang="ru-RU" dirty="0"/>
                  <a:t>отличается от </a:t>
                </a:r>
                <a:r>
                  <a:rPr lang="ru-RU" dirty="0" smtClean="0"/>
                  <a:t>единичной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ru-RU" dirty="0"/>
                  <a:t>минимум достигается при </a:t>
                </a:r>
                <a:r>
                  <a:rPr lang="ru-RU" dirty="0" smtClean="0"/>
                  <a:t>μ=0, σ2=1  — </a:t>
                </a:r>
                <a:r>
                  <a:rPr lang="ru-RU" dirty="0"/>
                  <a:t>то есть ровно при </a:t>
                </a:r>
                <a:r>
                  <a:rPr lang="ru-RU" dirty="0" smtClean="0"/>
                  <a:t>N(0,I</a:t>
                </a:r>
                <a:r>
                  <a:rPr lang="ru-RU" dirty="0"/>
                  <a:t>)</a:t>
                </a:r>
                <a:endParaRPr lang="en-US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b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568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Итоговая функция потерь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 процессе обучения одновременно минимизируются два критерия: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ru-RU" dirty="0"/>
              <a:t>Эти два критерия конкурируют между собой: первый хочет запомнить каждое изображение как можно точнее (сжать в точку), второй не даёт этого сделать и размазывает распределение. </a:t>
            </a:r>
            <a:endParaRPr lang="en-US" dirty="0" smtClean="0"/>
          </a:p>
          <a:p>
            <a:r>
              <a:rPr lang="ru-RU" dirty="0" smtClean="0"/>
              <a:t>Баланс </a:t>
            </a:r>
            <a:r>
              <a:rPr lang="ru-RU" dirty="0"/>
              <a:t>между ними и даёт компактное, непрерывное скрытое пространство, из которого можно осмысленно </a:t>
            </a:r>
            <a:r>
              <a:rPr lang="ru-RU" dirty="0" err="1"/>
              <a:t>сэмплировать</a:t>
            </a:r>
            <a:r>
              <a:rPr lang="ru-RU" dirty="0"/>
              <a:t>.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44" y="2446715"/>
            <a:ext cx="3839111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47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Проблемы </a:t>
            </a:r>
            <a:r>
              <a:rPr lang="ru-RU" b="1" dirty="0" err="1" smtClean="0"/>
              <a:t>автоэнкодеров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Вариационные </a:t>
            </a:r>
            <a:r>
              <a:rPr lang="ru-RU" dirty="0" err="1" smtClean="0"/>
              <a:t>автоэнкодеры</a:t>
            </a:r>
            <a:r>
              <a:rPr lang="ru-RU" dirty="0" smtClean="0"/>
              <a:t> способны формировать компактное скрытое пространство и генерировать на его основе выходной сигнал, для этого необходимо задавать два критерия: дивергенция </a:t>
            </a:r>
            <a:r>
              <a:rPr lang="ru-RU" dirty="0" err="1" smtClean="0"/>
              <a:t>Кульбака-Лейблера</a:t>
            </a:r>
            <a:r>
              <a:rPr lang="ru-RU" dirty="0" smtClean="0"/>
              <a:t> (для формирования желаемой формы точек скрытого пространства) и квадрат рассогласования между входным и выходным изображением.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797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Проблемы </a:t>
            </a:r>
            <a:r>
              <a:rPr lang="ru-RU" b="1" dirty="0" err="1"/>
              <a:t>автоэнкодеров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2689"/>
            <a:ext cx="10515600" cy="357720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44747" y="5789898"/>
            <a:ext cx="105299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Второй критерий позволяет декодер восстанавливать сигнал близко к входному.</a:t>
            </a:r>
          </a:p>
        </p:txBody>
      </p:sp>
    </p:spTree>
    <p:extLst>
      <p:ext uri="{BB962C8B-B14F-4D97-AF65-F5344CB8AC3E}">
        <p14:creationId xmlns:p14="http://schemas.microsoft.com/office/powerpoint/2010/main" val="1326919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Проблемы </a:t>
            </a:r>
            <a:r>
              <a:rPr lang="ru-RU" b="1" dirty="0" err="1"/>
              <a:t>автоэнкодеров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Однако изображение, которые получается на выходе выглядит смазанным.</a:t>
            </a:r>
          </a:p>
          <a:p>
            <a:r>
              <a:rPr lang="ru-RU" dirty="0" smtClean="0"/>
              <a:t>Это происходит из за того, что любая НС в процессе обучения старается уловить, сформировать закономерности между входными и выходными данными так, чтобы минимизировать заданный критерий. </a:t>
            </a:r>
          </a:p>
        </p:txBody>
      </p:sp>
    </p:spTree>
    <p:extLst>
      <p:ext uri="{BB962C8B-B14F-4D97-AF65-F5344CB8AC3E}">
        <p14:creationId xmlns:p14="http://schemas.microsoft.com/office/powerpoint/2010/main" val="842598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Проблемы </a:t>
            </a:r>
            <a:r>
              <a:rPr lang="ru-RU" b="1" dirty="0" err="1"/>
              <a:t>автоэнкодеров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Например, для множества похожих пятерок декодер должен сформировать адекватный ответ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В итоге получится пятерка, которая будет удовлетворять минимуму среднего квадрата ошибки рассогласования между всеми этими входами.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66" y="2818569"/>
            <a:ext cx="614448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42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Генеративно</a:t>
            </a:r>
            <a:r>
              <a:rPr lang="ru-RU" b="1" dirty="0"/>
              <a:t>-состязательные сети (</a:t>
            </a:r>
            <a:r>
              <a:rPr lang="en-US" b="1" dirty="0"/>
              <a:t>GAN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Но было бы лучше иметь нормальное, четкое изображение цифры, пусть и с большим значением показателя </a:t>
            </a:r>
            <a:r>
              <a:rPr lang="en-US" dirty="0" smtClean="0"/>
              <a:t>MSE</a:t>
            </a:r>
            <a:r>
              <a:rPr lang="ru-RU" dirty="0" smtClean="0"/>
              <a:t>.</a:t>
            </a:r>
          </a:p>
          <a:p>
            <a:r>
              <a:rPr lang="ru-RU" dirty="0" smtClean="0"/>
              <a:t>К сожалению других критериев для решения этой задачи пока не существует, все текущие так или иначе будут приводить к усреднению или выделению какого-то одного наблюдения.</a:t>
            </a:r>
          </a:p>
          <a:p>
            <a:r>
              <a:rPr lang="ru-RU" dirty="0" smtClean="0"/>
              <a:t>Поэтому в 2014 году Ян Гудфеллоу предложил новую концепцию, которая сейчас известна как </a:t>
            </a:r>
            <a:r>
              <a:rPr lang="ru-RU" dirty="0" err="1" smtClean="0"/>
              <a:t>генеративно</a:t>
            </a:r>
            <a:r>
              <a:rPr lang="ru-RU" dirty="0" smtClean="0"/>
              <a:t>-состязательные сети. </a:t>
            </a:r>
          </a:p>
          <a:p>
            <a:r>
              <a:rPr lang="ru-RU" dirty="0" smtClean="0"/>
              <a:t>Ключевая идея заключается в формировании критерия качества для генератора с помощью еще одной нейронной сети.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7393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Генеративно</a:t>
            </a:r>
            <a:r>
              <a:rPr lang="ru-RU" b="1" dirty="0"/>
              <a:t>-состязательные сети (</a:t>
            </a:r>
            <a:r>
              <a:rPr lang="en-US" b="1" dirty="0"/>
              <a:t>GAN)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7200"/>
            <a:ext cx="10515600" cy="39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59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 </a:t>
            </a:r>
            <a:r>
              <a:rPr lang="en-US" dirty="0" smtClean="0"/>
              <a:t>GAN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Идея новой концепции была в том, что на вход второй НС подавались и сгенерированные и реальные изображения, а она в свою очередь должна отличать первых от вторых.</a:t>
            </a:r>
          </a:p>
          <a:p>
            <a:r>
              <a:rPr lang="ru-RU" dirty="0" smtClean="0"/>
              <a:t>Такая сеть получила название дискриминатор.</a:t>
            </a:r>
            <a:endParaRPr lang="en-US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678" y="3735238"/>
            <a:ext cx="5976443" cy="277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96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дискриминатора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На выходе дискриминатора формируется одно числовое значение </a:t>
                </a:r>
                <a:r>
                  <a:rPr lang="en-US" dirty="0"/>
                  <a:t>y</a:t>
                </a:r>
                <a:r>
                  <a:rPr lang="ru-RU" dirty="0"/>
                  <a:t>. </a:t>
                </a:r>
                <a:endParaRPr lang="en-US" dirty="0" smtClean="0"/>
              </a:p>
              <a:p>
                <a:r>
                  <a:rPr lang="ru-RU" dirty="0" smtClean="0"/>
                  <a:t>Допустим</a:t>
                </a:r>
                <a:r>
                  <a:rPr lang="ru-RU" dirty="0"/>
                  <a:t>, к выходу применяется сигмоидальная функция и тогда диапазон выходных значений будет [0; 1]. </a:t>
                </a:r>
                <a:endParaRPr lang="en-US" dirty="0" smtClean="0"/>
              </a:p>
              <a:p>
                <a:r>
                  <a:rPr lang="ru-RU" dirty="0" smtClean="0"/>
                  <a:t>Эти </a:t>
                </a:r>
                <a:r>
                  <a:rPr lang="ru-RU" dirty="0"/>
                  <a:t>числа можно воспринимать как степень уверенности дискриминатора в том, что изображение реальное или </a:t>
                </a:r>
                <a:r>
                  <a:rPr lang="ru-RU" dirty="0" err="1"/>
                  <a:t>фейковое</a:t>
                </a:r>
                <a:r>
                  <a:rPr lang="ru-RU" dirty="0"/>
                  <a:t>. В частности, если</a:t>
                </a:r>
                <a:r>
                  <a:rPr lang="ru-RU" dirty="0" smtClean="0"/>
                  <a:t>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&gt;0,5 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𝑟𝑒𝑎𝑙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≤0,5 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𝑓𝑎𝑘𝑒</m:t>
                            </m:r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076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дискриминатора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 smtClean="0"/>
                  <a:t>То есть, на вход дискриминатора сначала можно подать реальное изображение, получить значение на выходе (назовем его </a:t>
                </a:r>
                <a:r>
                  <a:rPr lang="ru-RU" dirty="0" err="1"/>
                  <a:t>real_out</a:t>
                </a:r>
                <a:r>
                  <a:rPr lang="ru-RU" dirty="0"/>
                  <a:t>), а потом подать сгенерированное и вычислить другое значение (</a:t>
                </a:r>
                <a:r>
                  <a:rPr lang="ru-RU" dirty="0" err="1"/>
                  <a:t>fake_out</a:t>
                </a:r>
                <a:r>
                  <a:rPr lang="ru-RU" dirty="0"/>
                  <a:t>). </a:t>
                </a:r>
                <a:endParaRPr lang="en-US" dirty="0" smtClean="0"/>
              </a:p>
              <a:p>
                <a:r>
                  <a:rPr lang="ru-RU" dirty="0" smtClean="0"/>
                  <a:t>Затем</a:t>
                </a:r>
                <a:r>
                  <a:rPr lang="ru-RU" dirty="0"/>
                  <a:t>, используя эти выходные значения, вычислить потери по формуле бинарной кросс-энтропии (так как решается задача бинарной классификации на реальные и </a:t>
                </a:r>
                <a:r>
                  <a:rPr lang="ru-RU" dirty="0" err="1"/>
                  <a:t>фейковые</a:t>
                </a:r>
                <a:r>
                  <a:rPr lang="ru-RU" dirty="0"/>
                  <a:t> изображения</a:t>
                </a:r>
                <a:r>
                  <a:rPr lang="ru-RU" dirty="0" smtClean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𝑟𝑒𝑎𝑙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𝑟𝑒𝑎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𝑜𝑢𝑡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𝑟𝑒𝑎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𝑓𝑎𝑘𝑒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𝑓𝑎𝑘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𝑜𝑢𝑡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⁡(1−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𝑓𝑎𝑘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err="1" smtClean="0"/>
                  <a:t>tR</a:t>
                </a:r>
                <a:r>
                  <a:rPr lang="en-US" dirty="0" smtClean="0"/>
                  <a:t>=1 – </a:t>
                </a:r>
                <a:r>
                  <a:rPr lang="ru-RU" dirty="0" smtClean="0"/>
                  <a:t>целевое значение для реальных изображений</a:t>
                </a:r>
              </a:p>
              <a:p>
                <a:pPr marL="0" indent="0">
                  <a:buNone/>
                </a:pPr>
                <a:r>
                  <a:rPr lang="en-US" dirty="0" err="1" smtClean="0"/>
                  <a:t>tF</a:t>
                </a:r>
                <a:r>
                  <a:rPr lang="en-US" dirty="0" smtClean="0"/>
                  <a:t>=0 – </a:t>
                </a:r>
                <a:r>
                  <a:rPr lang="ru-RU" dirty="0" smtClean="0"/>
                  <a:t>целевое значение для </a:t>
                </a:r>
                <a:r>
                  <a:rPr lang="ru-RU" dirty="0" err="1" smtClean="0"/>
                  <a:t>фейковых</a:t>
                </a:r>
                <a:r>
                  <a:rPr lang="ru-RU" dirty="0" smtClean="0"/>
                  <a:t> изображений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1043" b="-1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268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потерь дискриминатора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Упрощая и суммируя эти </a:t>
            </a:r>
            <a:r>
              <a:rPr lang="ru-RU" dirty="0" smtClean="0"/>
              <a:t>потери можно получит: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dirty="0" smtClean="0"/>
              <a:t>	</a:t>
            </a:r>
            <a:r>
              <a:rPr lang="en-US" dirty="0" err="1" smtClean="0"/>
              <a:t>loss_dis</a:t>
            </a:r>
            <a:r>
              <a:rPr lang="en-US" dirty="0" smtClean="0"/>
              <a:t> = -log(</a:t>
            </a:r>
            <a:r>
              <a:rPr lang="en-US" dirty="0" err="1" smtClean="0"/>
              <a:t>real_out</a:t>
            </a:r>
            <a:r>
              <a:rPr lang="en-US" dirty="0" smtClean="0"/>
              <a:t>) – log(1 – </a:t>
            </a:r>
            <a:r>
              <a:rPr lang="en-US" dirty="0" err="1" smtClean="0"/>
              <a:t>fake_out</a:t>
            </a:r>
            <a:r>
              <a:rPr lang="en-US" dirty="0" smtClean="0"/>
              <a:t>)</a:t>
            </a:r>
          </a:p>
          <a:p>
            <a:r>
              <a:rPr lang="ru-RU" dirty="0"/>
              <a:t>Из этой формулы итогового показателя качества для дискриминатора видно, что потери должны быть минимальны для реальных изображений и максимальны для сгенерированных.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002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Обучение генератора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свою очередь генератор должен так построить изображение, чтобы дискриминатор не смог отличить его от реального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4" name="AutoShape 2" descr="Режим обучения генератора в инфографике"/>
          <p:cNvSpPr>
            <a:spLocks noChangeAspect="1" noChangeArrowheads="1"/>
          </p:cNvSpPr>
          <p:nvPr/>
        </p:nvSpPr>
        <p:spPr bwMode="auto">
          <a:xfrm>
            <a:off x="533400" y="52839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836" y="2734263"/>
            <a:ext cx="7858327" cy="35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61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генератора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Значит, в режиме обучения генератора в бинарной кросс-энтропии требуемый отклик </a:t>
                </a:r>
                <a:r>
                  <a:rPr lang="en-US" dirty="0" err="1" smtClean="0"/>
                  <a:t>tF</a:t>
                </a:r>
                <a:r>
                  <a:rPr lang="en-US" dirty="0" smtClean="0"/>
                  <a:t>=1</a:t>
                </a:r>
                <a:r>
                  <a:rPr lang="ru-RU" dirty="0" smtClean="0"/>
                  <a:t> </a:t>
                </a:r>
                <a:r>
                  <a:rPr lang="ru-RU" dirty="0"/>
                  <a:t>. Получаем критерий качества</a:t>
                </a:r>
                <a:r>
                  <a:rPr lang="ru-RU" dirty="0" smtClean="0"/>
                  <a:t>: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𝑔𝑒𝑛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𝑓𝑎𝑘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𝑜𝑢𝑡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𝑓𝑎𝑘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𝑔𝑒𝑛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𝑓𝑎𝑘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ru-RU" dirty="0"/>
                  <a:t>Получается, что дискриминатор и генератор конкурируют друг с другом и обучаются так, чтобы дискриминатор понимал входы от генератора, а генератор, наоборот, пытается «замаскировать» свою деятельность под реальные </a:t>
                </a:r>
                <a:r>
                  <a:rPr lang="ru-RU" dirty="0" smtClean="0"/>
                  <a:t>изображения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6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96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генератора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такой конкуренции дискриминатор все лучше и лучше отличает реальные от </a:t>
            </a:r>
            <a:r>
              <a:rPr lang="ru-RU" dirty="0" err="1"/>
              <a:t>фейковых</a:t>
            </a:r>
            <a:r>
              <a:rPr lang="ru-RU" dirty="0"/>
              <a:t> изображений, а генератор все точнее и точнее создает реалистичные изображения.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ru-RU" dirty="0"/>
              <a:t>идеале генератор должен формировать изображения неотличимые от реальных так, чтобы дискриминатор уже не мог их различать. </a:t>
            </a:r>
            <a:endParaRPr lang="en-US" dirty="0" smtClean="0"/>
          </a:p>
          <a:p>
            <a:r>
              <a:rPr lang="ru-RU" dirty="0" smtClean="0"/>
              <a:t>Это </a:t>
            </a:r>
            <a:r>
              <a:rPr lang="ru-RU" dirty="0"/>
              <a:t>пример того, как взаимная конкуренция приводит к развитию обеих нейронных сетей. </a:t>
            </a:r>
            <a:endParaRPr lang="en-US" dirty="0" smtClean="0"/>
          </a:p>
          <a:p>
            <a:r>
              <a:rPr lang="ru-RU" dirty="0" smtClean="0"/>
              <a:t>Отсюда </a:t>
            </a:r>
            <a:r>
              <a:rPr lang="ru-RU" dirty="0"/>
              <a:t>и пошло название «</a:t>
            </a:r>
            <a:r>
              <a:rPr lang="ru-RU" dirty="0" err="1"/>
              <a:t>генеративно</a:t>
            </a:r>
            <a:r>
              <a:rPr lang="ru-RU" dirty="0"/>
              <a:t>-состязательные».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9985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Общая идея </a:t>
            </a:r>
            <a:r>
              <a:rPr lang="en-US" dirty="0" smtClean="0"/>
              <a:t>GAN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Берём набор реальных изображений, близких к тому, что должен научиться генерировать генератор. </a:t>
            </a:r>
            <a:endParaRPr lang="ru-RU" dirty="0" smtClean="0"/>
          </a:p>
          <a:p>
            <a:r>
              <a:rPr lang="ru-RU" dirty="0"/>
              <a:t>Дискриминатору поочерёдно показывают реальное и сгенерированное изображение. Он выдаёт два значения </a:t>
            </a:r>
            <a:r>
              <a:rPr lang="en-US" dirty="0"/>
              <a:t>– </a:t>
            </a:r>
            <a:r>
              <a:rPr lang="ru-RU" dirty="0" err="1" smtClean="0"/>
              <a:t>real_out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fake_out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 smtClean="0"/>
              <a:t>и </a:t>
            </a:r>
            <a:r>
              <a:rPr lang="ru-RU" dirty="0"/>
              <a:t>по ним, через функцию потерь </a:t>
            </a:r>
            <a:r>
              <a:rPr lang="ru-RU" dirty="0" err="1"/>
              <a:t>loss_dis</a:t>
            </a:r>
            <a:r>
              <a:rPr lang="ru-RU" dirty="0"/>
              <a:t>, обучается отличать одно от другого. </a:t>
            </a:r>
            <a:endParaRPr lang="ru-RU" dirty="0" smtClean="0"/>
          </a:p>
          <a:p>
            <a:r>
              <a:rPr lang="ru-RU" dirty="0"/>
              <a:t>Затем сгенерированное изображение снова подаётся дискриминатору, но теперь его оценка </a:t>
            </a:r>
            <a:r>
              <a:rPr lang="ru-RU" dirty="0" err="1"/>
              <a:t>fake_out</a:t>
            </a:r>
            <a:r>
              <a:rPr lang="ru-RU" dirty="0"/>
              <a:t> используется для обучения уже генератора </a:t>
            </a:r>
            <a:r>
              <a:rPr lang="en-US" dirty="0"/>
              <a:t>– </a:t>
            </a:r>
            <a:r>
              <a:rPr lang="ru-RU" dirty="0" smtClean="0"/>
              <a:t>чтобы </a:t>
            </a:r>
            <a:r>
              <a:rPr lang="ru-RU" dirty="0"/>
              <a:t>тот научился делать изображения, которые дискриминатор не сможет отличить от реальных</a:t>
            </a:r>
            <a:r>
              <a:rPr lang="ru-RU" dirty="0" smtClean="0"/>
              <a:t>.</a:t>
            </a:r>
          </a:p>
          <a:p>
            <a:r>
              <a:rPr lang="ru-RU" dirty="0"/>
              <a:t>Эти два шага чередуются: сначала обучается дискриминатор, потом генератор, потом снова дискриминатор </a:t>
            </a:r>
            <a:r>
              <a:rPr lang="en-US" dirty="0"/>
              <a:t>– </a:t>
            </a:r>
            <a:r>
              <a:rPr lang="ru-RU" dirty="0" smtClean="0"/>
              <a:t>и </a:t>
            </a:r>
            <a:r>
              <a:rPr lang="ru-RU" dirty="0"/>
              <a:t>так по кругу. Каждая сеть подталкивает другую становиться лучше</a:t>
            </a:r>
            <a:r>
              <a:rPr lang="ru-RU" dirty="0" smtClean="0"/>
              <a:t>.</a:t>
            </a:r>
          </a:p>
          <a:p>
            <a:r>
              <a:rPr lang="ru-RU" dirty="0"/>
              <a:t>В итоге система приходит к некоторому равновесию: генератор научается делать убедительные изображения, а дискриминатор </a:t>
            </a:r>
            <a:r>
              <a:rPr lang="en-US" dirty="0"/>
              <a:t>– </a:t>
            </a:r>
            <a:r>
              <a:rPr lang="ru-RU" dirty="0" smtClean="0"/>
              <a:t>максимально </a:t>
            </a:r>
            <a:r>
              <a:rPr lang="ru-RU" dirty="0"/>
              <a:t>точно их проверять.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18939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1659</Words>
  <Application>Microsoft Office PowerPoint</Application>
  <PresentationFormat>Широкоэкранный</PresentationFormat>
  <Paragraphs>142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Yandex Sans Display Light</vt:lpstr>
      <vt:lpstr>Тема Office</vt:lpstr>
      <vt:lpstr>Генерация изображений</vt:lpstr>
      <vt:lpstr>Структура лекции</vt:lpstr>
      <vt:lpstr>Автоэнкодеры</vt:lpstr>
      <vt:lpstr>Архитектура автоэнкодеров</vt:lpstr>
      <vt:lpstr>Размерность входных и выходных данных</vt:lpstr>
      <vt:lpstr>Автоэнкодеры для семантической сегментации</vt:lpstr>
      <vt:lpstr>Еще один пример применения автоэнкодера</vt:lpstr>
      <vt:lpstr>Принцип работы автоэнкодеров</vt:lpstr>
      <vt:lpstr>Принцип работы автоэнкодеров</vt:lpstr>
      <vt:lpstr>Принцип работы автоэнкодеров</vt:lpstr>
      <vt:lpstr>Презентация PowerPoint</vt:lpstr>
      <vt:lpstr>Презентация PowerPoint</vt:lpstr>
      <vt:lpstr>Архитектура простого автоэнкодера</vt:lpstr>
      <vt:lpstr>Вариационные автоэнкодеры (VAE)</vt:lpstr>
      <vt:lpstr>Формирование области скрытого пространства</vt:lpstr>
      <vt:lpstr>Пример в двухмерном пространстве</vt:lpstr>
      <vt:lpstr>Ключевое преимущество VAE перед обычным автоэнкодером</vt:lpstr>
      <vt:lpstr>Презентация PowerPoint</vt:lpstr>
      <vt:lpstr>Дивергенция Кульбака-Лейблера</vt:lpstr>
      <vt:lpstr>Зачем нужна дивергенция Кульбака-Лейблера?</vt:lpstr>
      <vt:lpstr>Как измерить расхождение двух распределений?</vt:lpstr>
      <vt:lpstr>Как кодер описывает своё распределение?</vt:lpstr>
      <vt:lpstr>Итоговая формула</vt:lpstr>
      <vt:lpstr>Итоговая функция потерь</vt:lpstr>
      <vt:lpstr>Проблемы автоэнкодеров</vt:lpstr>
      <vt:lpstr>Проблемы автоэнкодеров</vt:lpstr>
      <vt:lpstr>Проблемы автоэнкодеров</vt:lpstr>
      <vt:lpstr>Проблемы автоэнкодеров</vt:lpstr>
      <vt:lpstr>Генеративно-состязательные сети (GAN)</vt:lpstr>
      <vt:lpstr>Генеративно-состязательные сети (GAN)</vt:lpstr>
      <vt:lpstr>Принцип работы GAN</vt:lpstr>
      <vt:lpstr>Работа дискриминатора</vt:lpstr>
      <vt:lpstr>Работа дискриминатора</vt:lpstr>
      <vt:lpstr>Функция потерь дискриминатора</vt:lpstr>
      <vt:lpstr>Обучение генератора</vt:lpstr>
      <vt:lpstr>Обучение генератора</vt:lpstr>
      <vt:lpstr>Обучение генератора</vt:lpstr>
      <vt:lpstr>Общая идея GAN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Генерация изображений</dc:title>
  <dc:creator>Пользователь Windows</dc:creator>
  <cp:lastModifiedBy>Пользователь Windows</cp:lastModifiedBy>
  <cp:revision>19</cp:revision>
  <dcterms:created xsi:type="dcterms:W3CDTF">2026-05-17T20:46:59Z</dcterms:created>
  <dcterms:modified xsi:type="dcterms:W3CDTF">2026-05-20T06:55:26Z</dcterms:modified>
</cp:coreProperties>
</file>